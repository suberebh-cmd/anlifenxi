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新增册数</c:v>
                </c:pt>
              </c:strCache>
            </c:strRef>
          </c:tx>
          <c:spPr>
            <a:solidFill>
              <a:srgbClr val="1A4266"/>
            </a:solidFill>
            <a:ln>
              <a:solidFill>
                <a:srgbClr val="1A4266"/>
              </a:solidFill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6F7A85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33260</c:v>
                </c:pt>
                <c:pt idx="1">
                  <c:v>25630</c:v>
                </c:pt>
                <c:pt idx="2">
                  <c:v>27518</c:v>
                </c:pt>
                <c:pt idx="3">
                  <c:v>26460</c:v>
                </c:pt>
                <c:pt idx="4">
                  <c:v>29979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F7A85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6D4C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F7A85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2021占比%</c:v>
                </c:pt>
              </c:strCache>
            </c:strRef>
          </c:tx>
          <c:spPr>
            <a:solidFill>
              <a:srgbClr val="1A4266"/>
            </a:solidFill>
            <a:ln>
              <a:solidFill>
                <a:srgbClr val="1A4266"/>
              </a:solidFill>
            </a:ln>
          </c:spPr>
          <c:cat>
            <c:strRef>
              <c:f>Sheet1!$A$2:$A$7</c:f>
              <c:strCache>
                <c:ptCount val="6"/>
                <c:pt idx="0">
                  <c:v>B
哲学、宗教</c:v>
                </c:pt>
                <c:pt idx="1">
                  <c:v>C
社会科学总论</c:v>
                </c:pt>
                <c:pt idx="2">
                  <c:v>D
政治、法律</c:v>
                </c:pt>
                <c:pt idx="3">
                  <c:v>I
文学</c:v>
                </c:pt>
                <c:pt idx="4">
                  <c:v>F
经济</c:v>
                </c:pt>
                <c:pt idx="5">
                  <c:v>T
工业技术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6.49</c:v>
                </c:pt>
                <c:pt idx="1">
                  <c:v>3.46</c:v>
                </c:pt>
                <c:pt idx="2">
                  <c:v>10.3</c:v>
                </c:pt>
                <c:pt idx="3">
                  <c:v>17.98</c:v>
                </c:pt>
                <c:pt idx="4">
                  <c:v>13.57</c:v>
                </c:pt>
                <c:pt idx="5">
                  <c:v>12.3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2025占比%</c:v>
                </c:pt>
              </c:strCache>
            </c:strRef>
          </c:tx>
          <c:spPr>
            <a:solidFill>
              <a:srgbClr val="A94639"/>
            </a:solidFill>
            <a:ln>
              <a:solidFill>
                <a:srgbClr val="A94639"/>
              </a:solidFill>
            </a:ln>
          </c:spPr>
          <c:cat>
            <c:strRef>
              <c:f>Sheet1!$A$2:$A$7</c:f>
              <c:strCache>
                <c:ptCount val="6"/>
                <c:pt idx="0">
                  <c:v>B
哲学、宗教</c:v>
                </c:pt>
                <c:pt idx="1">
                  <c:v>C
社会科学总论</c:v>
                </c:pt>
                <c:pt idx="2">
                  <c:v>D
政治、法律</c:v>
                </c:pt>
                <c:pt idx="3">
                  <c:v>I
文学</c:v>
                </c:pt>
                <c:pt idx="4">
                  <c:v>F
经济</c:v>
                </c:pt>
                <c:pt idx="5">
                  <c:v>T
工业技术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12.94</c:v>
                </c:pt>
                <c:pt idx="1">
                  <c:v>4.82</c:v>
                </c:pt>
                <c:pt idx="2">
                  <c:v>11.71</c:v>
                </c:pt>
                <c:pt idx="3">
                  <c:v>19.4</c:v>
                </c:pt>
                <c:pt idx="4">
                  <c:v>10.56</c:v>
                </c:pt>
                <c:pt idx="5">
                  <c:v>7.2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F7A85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6D4C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F7A85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一年内出版占比%</c:v>
                </c:pt>
              </c:strCache>
            </c:strRef>
          </c:tx>
          <c:spPr>
            <a:ln>
              <a:solidFill>
                <a:srgbClr val="A94639"/>
              </a:solidFill>
            </a:ln>
          </c:spPr>
          <c:marker>
            <c:symbol val="diamond"/>
            <c:size val="7"/>
            <c:spPr>
              <a:solidFill>
                <a:srgbClr val="A94639"/>
              </a:solidFill>
            </c:spPr>
          </c:marker>
          <c:dLbls>
            <c:txPr>
              <a:bodyPr/>
              <a:lstStyle/>
              <a:p>
                <a:pPr>
                  <a:defRPr sz="900">
                    <a:solidFill>
                      <a:srgbClr val="6F7A85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78.85</c:v>
                </c:pt>
                <c:pt idx="1">
                  <c:v>56.26</c:v>
                </c:pt>
                <c:pt idx="2">
                  <c:v>44.66</c:v>
                </c:pt>
                <c:pt idx="3">
                  <c:v>48.22</c:v>
                </c:pt>
                <c:pt idx="4">
                  <c:v>59.55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F7A85"/>
                </a:solidFill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6D4C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F7A85"/>
                </a:solidFill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记录数</c:v>
                </c:pt>
              </c:strCache>
            </c:strRef>
          </c:tx>
          <c:dPt>
            <c:idx val="0"/>
            <c:spPr>
              <a:solidFill>
                <a:srgbClr val="1A4266"/>
              </a:solidFill>
            </c:spPr>
          </c:dPt>
          <c:dPt>
            <c:idx val="1"/>
            <c:spPr>
              <a:solidFill>
                <a:srgbClr val="1A4266"/>
              </a:solidFill>
            </c:spPr>
          </c:dPt>
          <c:dPt>
            <c:idx val="2"/>
            <c:spPr>
              <a:solidFill>
                <a:srgbClr val="A29F99"/>
              </a:solidFill>
            </c:spPr>
          </c:dPt>
          <c:dPt>
            <c:idx val="3"/>
            <c:spPr>
              <a:solidFill>
                <a:srgbClr val="A29F99"/>
              </a:solidFill>
            </c:spPr>
          </c:dPt>
          <c:dPt>
            <c:idx val="4"/>
            <c:spPr>
              <a:solidFill>
                <a:srgbClr val="1A4266"/>
              </a:solidFill>
            </c:spPr>
          </c:dPt>
          <c:cat>
            <c:strRef>
              <c:f>Sheet1!$A$2:$A$6</c:f>
              <c:strCache>
                <c:ptCount val="5"/>
                <c:pt idx="0">
                  <c:v>民族文献借阅（L203）</c:v>
                </c:pt>
                <c:pt idx="1">
                  <c:v>民族文献阅览（L201）</c:v>
                </c:pt>
                <c:pt idx="2">
                  <c:v>捐赠书阅览室L109</c:v>
                </c:pt>
                <c:pt idx="3">
                  <c:v>多卷工具阅览4（L303）</c:v>
                </c:pt>
                <c:pt idx="4">
                  <c:v>民大文库L102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3888</c:v>
                </c:pt>
                <c:pt idx="1">
                  <c:v>3804</c:v>
                </c:pt>
                <c:pt idx="2">
                  <c:v>5989</c:v>
                </c:pt>
                <c:pt idx="3">
                  <c:v>11933</c:v>
                </c:pt>
                <c:pt idx="4">
                  <c:v>1323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F7A85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6D4C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F7A85"/>
                </a:solidFill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1A4266"/>
          </a:solidFill>
          <a:ln>
            <a:solidFill>
              <a:srgbClr val="1A4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2011680" cy="310896"/>
          </a:xfrm>
          <a:prstGeom prst="roundRect">
            <a:avLst/>
          </a:prstGeom>
          <a:solidFill>
            <a:srgbClr val="D8E4EB"/>
          </a:solidFill>
          <a:ln>
            <a:solidFill>
              <a:srgbClr val="D8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4266"/>
                </a:solidFill>
                <a:latin typeface="Microsoft YaHei"/>
              </a:rPr>
              <a:t>教学型案例汇报初稿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2B38"/>
                </a:solidFill>
                <a:latin typeface="Microsoft YaHei"/>
              </a:rPr>
              <a:t>真正难的不是买多少书，
而是先为谁留位置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51760"/>
            <a:ext cx="7132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F7A85"/>
                </a:solidFill>
                <a:latin typeface="Microsoft YaHei"/>
              </a:rPr>
              <a:t>H大学图书馆馆藏结构优化中的取舍
一般学科资源与民族地区文献建设如何兼顾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960120"/>
            <a:ext cx="30632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2344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94639"/>
                </a:solidFill>
                <a:latin typeface="Microsoft YaHei"/>
              </a:rPr>
              <a:t>这版 PPT 的表达更“像人在说话”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691640"/>
            <a:ext cx="23774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B38"/>
                </a:solidFill>
                <a:latin typeface="Microsoft YaHei"/>
              </a:rPr>
              <a:t>我想把重点说得更直接一点：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E2B38"/>
                </a:solidFill>
                <a:latin typeface="Microsoft YaHei"/>
              </a:rPr>
              <a:t>这不是一份普通的馆藏统计。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E2B38"/>
                </a:solidFill>
                <a:latin typeface="Microsoft YaHei"/>
              </a:rPr>
              <a:t>它真正讨论的是，在有限预算里，学校到底要先保什么。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212080"/>
            <a:ext cx="7315200" cy="731520"/>
          </a:xfrm>
          <a:prstGeom prst="roundRect">
            <a:avLst/>
          </a:prstGeom>
          <a:solidFill>
            <a:srgbClr val="D8E4EB"/>
          </a:solidFill>
          <a:ln>
            <a:solidFill>
              <a:srgbClr val="D8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4266"/>
                </a:solidFill>
                <a:latin typeface="Microsoft YaHei"/>
              </a:rPr>
              <a:t>汇报口吻会比论文更鲜明，但仍保留教学案例需要的克制与判断感。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4CE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版本：个人风格增强版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7A85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94639"/>
                </a:solidFill>
                <a:latin typeface="Microsoft YaHei"/>
              </a:rPr>
              <a:t>情境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B38"/>
                </a:solidFill>
                <a:latin typeface="Microsoft YaHei"/>
              </a:rPr>
              <a:t>这不是一次普通的馆藏复盘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F7A85"/>
                </a:solidFill>
                <a:latin typeface="Microsoft YaHei"/>
              </a:rPr>
              <a:t>先交代背景，再把真正的取舍抬出来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399032"/>
            <a:ext cx="13898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266"/>
                </a:solidFill>
                <a:latin typeface="Microsoft YaHei"/>
              </a:rPr>
              <a:t>142,847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1764792"/>
            <a:ext cx="13898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Microsoft YaHei"/>
              </a:rPr>
              <a:t>五年可识别新增馆藏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075688"/>
            <a:ext cx="1389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2021—2025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32588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2616" y="1399032"/>
            <a:ext cx="13898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266"/>
                </a:solidFill>
                <a:latin typeface="Microsoft YaHei"/>
              </a:rPr>
              <a:t>166,382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6" y="1764792"/>
            <a:ext cx="13898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Microsoft YaHei"/>
              </a:rPr>
              <a:t>原始记录总量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2616" y="2075688"/>
            <a:ext cx="1389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含回溯 / 特藏 / 工具书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2588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399032"/>
            <a:ext cx="13898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266"/>
                </a:solidFill>
                <a:latin typeface="Microsoft YaHei"/>
              </a:rPr>
              <a:t>4.98%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1764792"/>
            <a:ext cx="13898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Microsoft YaHei"/>
              </a:rPr>
              <a:t>民族文献相关新增占比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075688"/>
            <a:ext cx="1389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7108 / 142847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261872"/>
            <a:ext cx="49834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60020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B38"/>
                </a:solidFill>
                <a:latin typeface="Microsoft YaHei"/>
              </a:defRPr>
            </a:pPr>
            <a:r>
              <a:t>我更想强调：这次讨论不是“书够不够”，而是“先为谁留位置”。</a:t>
            </a:r>
          </a:p>
          <a:p>
            <a:pPr>
              <a:spcAft>
                <a:spcPts val="800"/>
              </a:spcAft>
              <a:defRPr sz="1800">
                <a:solidFill>
                  <a:srgbClr val="1E2B38"/>
                </a:solidFill>
                <a:latin typeface="Microsoft YaHei"/>
              </a:defRPr>
            </a:pPr>
            <a:r>
              <a:t>学校既要服务一般学科教学科研，也承担民族地区人才培养、民族学科建设和文化传承任务。</a:t>
            </a:r>
          </a:p>
          <a:p>
            <a:pPr>
              <a:spcAft>
                <a:spcPts val="800"/>
              </a:spcAft>
              <a:defRPr sz="1800">
                <a:solidFill>
                  <a:srgbClr val="1E2B38"/>
                </a:solidFill>
                <a:latin typeface="Microsoft YaHei"/>
              </a:defRPr>
            </a:pPr>
            <a:r>
              <a:t>预算、空间、评价口径都有限，馆藏优化开始变成一道真正的选择题。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743200"/>
            <a:ext cx="53035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97180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94639"/>
                </a:solidFill>
                <a:latin typeface="Microsoft YaHei"/>
              </a:rPr>
              <a:t>我会把这份案例理解成三个层次的矛盾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83280"/>
            <a:ext cx="4572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E2B38"/>
                </a:solidFill>
                <a:latin typeface="Microsoft YaHei"/>
              </a:rPr>
              <a:t>1. 总量还在增长，但方向已经变了。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E2B38"/>
                </a:solidFill>
                <a:latin typeface="Microsoft YaHei"/>
              </a:rPr>
              <a:t>2. 特色资源不大，却最能代表学校是谁。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E2B38"/>
                </a:solidFill>
                <a:latin typeface="Microsoft YaHei"/>
              </a:rPr>
              <a:t>3. 如果继续用平均数看一切，很多价值会被看矮。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4CE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数据来源：五年馆藏.xlsx / analysis_tables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7A85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94639"/>
                </a:solidFill>
                <a:latin typeface="Microsoft YaHei"/>
              </a:rPr>
              <a:t>全馆变化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B38"/>
                </a:solidFill>
                <a:latin typeface="Microsoft YaHei"/>
              </a:rPr>
              <a:t>五年里，馆藏没有停，重心却在悄悄换挡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13232" y="132588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06640" y="1325880"/>
            <a:ext cx="4114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69164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B38"/>
                </a:solidFill>
                <a:latin typeface="Microsoft YaHei"/>
              </a:defRPr>
            </a:pPr>
            <a:r>
              <a:t>2022 年收缩最明显，2025 年重新扩张。</a:t>
            </a:r>
          </a:p>
          <a:p>
            <a:pPr>
              <a:spcAft>
                <a:spcPts val="800"/>
              </a:spcAft>
              <a:defRPr sz="1800">
                <a:solidFill>
                  <a:srgbClr val="1E2B38"/>
                </a:solidFill>
                <a:latin typeface="Microsoft YaHei"/>
              </a:defRPr>
            </a:pPr>
            <a:r>
              <a:t>即便波动，新增馆藏始终维持在 2.5 万册以上。</a:t>
            </a:r>
          </a:p>
          <a:p>
            <a:pPr>
              <a:spcAft>
                <a:spcPts val="800"/>
              </a:spcAft>
              <a:defRPr sz="1800">
                <a:solidFill>
                  <a:srgbClr val="1E2B38"/>
                </a:solidFill>
                <a:latin typeface="Microsoft YaHei"/>
              </a:defRPr>
            </a:pPr>
            <a:r>
              <a:t>我的感受是：规模没有停，但资源排序已经在换挡。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4480560"/>
            <a:ext cx="1737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63256" y="4553712"/>
            <a:ext cx="14813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266"/>
                </a:solidFill>
                <a:latin typeface="Microsoft YaHei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63256" y="4919472"/>
            <a:ext cx="14813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Microsoft YaHei"/>
              </a:rPr>
              <a:t>压力最大的一年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3256" y="5230368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同比 -22.94%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4480560"/>
            <a:ext cx="1737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83496" y="4553712"/>
            <a:ext cx="14813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266"/>
                </a:solidFill>
                <a:latin typeface="Microsoft YaHei"/>
              </a:rPr>
              <a:t>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3496" y="4919472"/>
            <a:ext cx="14813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Microsoft YaHei"/>
              </a:rPr>
              <a:t>明显修复的一年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3496" y="5230368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同比 +13.30%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4CE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数据来源：五年馆藏.xlsx / analysis_tables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7A85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94639"/>
                </a:solidFill>
                <a:latin typeface="Microsoft YaHei"/>
              </a:rPr>
              <a:t>结构迁移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B38"/>
                </a:solidFill>
                <a:latin typeface="Microsoft YaHei"/>
              </a:rPr>
              <a:t>从 2021 到 2025，资源配置更明显地向人文社科议题倾斜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13232" y="1325880"/>
          <a:ext cx="67208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325880"/>
            <a:ext cx="3794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691640"/>
            <a:ext cx="3337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B38"/>
                </a:solidFill>
                <a:latin typeface="Microsoft YaHei"/>
              </a:defRPr>
            </a:pPr>
            <a:r>
              <a:t>B 类从 6.49% 升到 12.94%，是五年里最明显的上升项。</a:t>
            </a:r>
          </a:p>
          <a:p>
            <a:pPr>
              <a:spcAft>
                <a:spcPts val="800"/>
              </a:spcAft>
              <a:defRPr sz="1700">
                <a:solidFill>
                  <a:srgbClr val="1E2B38"/>
                </a:solidFill>
                <a:latin typeface="Microsoft YaHei"/>
              </a:defRPr>
            </a:pPr>
            <a:r>
              <a:t>T 类从 12.30% 降到 7.20%，F 类也明显回落。</a:t>
            </a:r>
          </a:p>
          <a:p>
            <a:pPr>
              <a:spcAft>
                <a:spcPts val="800"/>
              </a:spcAft>
              <a:defRPr sz="1700">
                <a:solidFill>
                  <a:srgbClr val="1E2B38"/>
                </a:solidFill>
                <a:latin typeface="Microsoft YaHei"/>
              </a:defRPr>
            </a:pPr>
            <a:r>
              <a:t>在我看来，这不是简单增减，而是学校任务在重排书单。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4526280"/>
            <a:ext cx="3337560" cy="868680"/>
          </a:xfrm>
          <a:prstGeom prst="roundRect">
            <a:avLst/>
          </a:prstGeom>
          <a:solidFill>
            <a:srgbClr val="D8E4EB"/>
          </a:solidFill>
          <a:ln>
            <a:solidFill>
              <a:srgbClr val="D8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473659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4266"/>
                </a:solidFill>
                <a:latin typeface="Microsoft YaHei"/>
              </a:rPr>
              <a:t>最值得追问的不是“哪个类多了”，而是“为什么它开始更重要”。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4CE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数据来源：五年馆藏.xlsx / analysis_tables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7A85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94639"/>
                </a:solidFill>
                <a:latin typeface="Microsoft YaHei"/>
              </a:rPr>
              <a:t>响应速度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B38"/>
                </a:solidFill>
                <a:latin typeface="Microsoft YaHei"/>
              </a:rPr>
              <a:t>看上去是采购节奏，背后其实是资源响应速度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49808" y="1353312"/>
          <a:ext cx="64922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52360" y="1353312"/>
            <a:ext cx="1783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0376" y="1426464"/>
            <a:ext cx="1527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266"/>
                </a:solidFill>
                <a:latin typeface="Microsoft YaHei"/>
              </a:rPr>
              <a:t>1—2年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0376" y="1792224"/>
            <a:ext cx="1527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Microsoft YaHei"/>
              </a:rPr>
              <a:t>出版时差中位数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0376" y="2103120"/>
            <a:ext cx="1527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多数年份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353312"/>
            <a:ext cx="1783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46336" y="1426464"/>
            <a:ext cx="1527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266"/>
                </a:solidFill>
                <a:latin typeface="Microsoft YaHei"/>
              </a:rPr>
              <a:t>59.55%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6336" y="1792224"/>
            <a:ext cx="1527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Microsoft YaHei"/>
              </a:rPr>
              <a:t>2025 一年内出版占比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6336" y="2103120"/>
            <a:ext cx="1527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较 2023 明显回升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651760"/>
            <a:ext cx="3749039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97180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B38"/>
                </a:solidFill>
                <a:latin typeface="Microsoft YaHei"/>
              </a:defRPr>
            </a:pPr>
            <a:r>
              <a:t>2023—2024 年，一年内出版占比分别降到 44.66% 和 48.22%。</a:t>
            </a:r>
          </a:p>
          <a:p>
            <a:pPr>
              <a:spcAft>
                <a:spcPts val="800"/>
              </a:spcAft>
              <a:defRPr sz="1600">
                <a:solidFill>
                  <a:srgbClr val="1E2B38"/>
                </a:solidFill>
                <a:latin typeface="Microsoft YaHei"/>
              </a:defRPr>
            </a:pPr>
            <a:r>
              <a:t>2025 年回升到 59.55%，说明响应速度在修复。</a:t>
            </a:r>
          </a:p>
          <a:p>
            <a:pPr>
              <a:spcAft>
                <a:spcPts val="800"/>
              </a:spcAft>
              <a:defRPr sz="1600">
                <a:solidFill>
                  <a:srgbClr val="1E2B38"/>
                </a:solidFill>
                <a:latin typeface="Microsoft YaHei"/>
              </a:defRPr>
            </a:pPr>
            <a:r>
              <a:t>如果我要判断服务温度，我会先看这组数据。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4CE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数据来源：五年馆藏.xlsx / analysis_tables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7A85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94639"/>
                </a:solidFill>
                <a:latin typeface="Microsoft YaHei"/>
              </a:rPr>
              <a:t>学校辨识度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B38"/>
                </a:solidFill>
                <a:latin typeface="Microsoft YaHei"/>
              </a:rPr>
              <a:t>真正拉开学校辨识度的，不是总量，而是民族地区相关资源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53312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26464"/>
            <a:ext cx="13898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266"/>
                </a:solidFill>
                <a:latin typeface="Microsoft YaHei"/>
              </a:rPr>
              <a:t>9015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92224"/>
            <a:ext cx="13898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Microsoft YaHei"/>
              </a:rPr>
              <a:t>相关馆藏总记录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03120"/>
            <a:ext cx="1389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L203 / L201 / L102 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353312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42616" y="1426464"/>
            <a:ext cx="13898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266"/>
                </a:solidFill>
                <a:latin typeface="Microsoft YaHei"/>
              </a:rPr>
              <a:t>7108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2616" y="1792224"/>
            <a:ext cx="13898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Microsoft YaHei"/>
              </a:rPr>
              <a:t>近五年新增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6" y="2103120"/>
            <a:ext cx="1389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2021—2025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353312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1426464"/>
            <a:ext cx="13898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266"/>
                </a:solidFill>
                <a:latin typeface="Microsoft YaHei"/>
              </a:rPr>
              <a:t>4.98%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1792224"/>
            <a:ext cx="13898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Microsoft YaHei"/>
              </a:rPr>
              <a:t>占同期新增比重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103120"/>
            <a:ext cx="1389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不大，但很关键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31520" y="2743200"/>
          <a:ext cx="626364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269480" y="1353312"/>
            <a:ext cx="41605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737360"/>
            <a:ext cx="3703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B38"/>
                </a:solidFill>
                <a:latin typeface="Microsoft YaHei"/>
              </a:defRPr>
            </a:pPr>
            <a:r>
              <a:t>K 类历史地理是核心，同时覆盖 I 类文学、J 类艺术和 C 类社会科学总论。</a:t>
            </a:r>
          </a:p>
          <a:p>
            <a:pPr>
              <a:spcAft>
                <a:spcPts val="800"/>
              </a:spcAft>
              <a:defRPr sz="1600">
                <a:solidFill>
                  <a:srgbClr val="1E2B38"/>
                </a:solidFill>
                <a:latin typeface="Microsoft YaHei"/>
              </a:defRPr>
            </a:pPr>
            <a:r>
              <a:t>民族文献阅览与民大文库明显更偏专题研究型，价格也更高。</a:t>
            </a:r>
          </a:p>
          <a:p>
            <a:pPr>
              <a:spcAft>
                <a:spcPts val="800"/>
              </a:spcAft>
              <a:defRPr sz="1600">
                <a:solidFill>
                  <a:srgbClr val="1E2B38"/>
                </a:solidFill>
                <a:latin typeface="Microsoft YaHei"/>
              </a:defRPr>
            </a:pPr>
            <a:r>
              <a:t>它们规模不算最大，但最能代表这所学校是谁。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11480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5" y="4187952"/>
            <a:ext cx="14813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266"/>
                </a:solidFill>
                <a:latin typeface="Microsoft YaHei"/>
              </a:rPr>
              <a:t>221.76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5" y="4553712"/>
            <a:ext cx="14813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Microsoft YaHei"/>
              </a:rPr>
              <a:t>民族文献阅览均价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5" y="4864608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研究型更强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411480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6336" y="4187952"/>
            <a:ext cx="14813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4266"/>
                </a:solidFill>
                <a:latin typeface="Microsoft YaHei"/>
              </a:rPr>
              <a:t>262.04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6336" y="4553712"/>
            <a:ext cx="14813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B38"/>
                </a:solidFill>
                <a:latin typeface="Microsoft YaHei"/>
              </a:rPr>
              <a:t>民大文库均价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6" y="4864608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收藏属性更强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4CE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数据来源：五年馆藏.xlsx / analysis_tables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7A85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94639"/>
                </a:solidFill>
                <a:latin typeface="Microsoft YaHei"/>
              </a:rPr>
              <a:t>使命承接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B38"/>
                </a:solidFill>
                <a:latin typeface="Microsoft YaHei"/>
              </a:rPr>
              <a:t>这些资源之所以重要，是因为它们承接的是学校的特殊任务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600200"/>
            <a:ext cx="2651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23225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4266"/>
                </a:solidFill>
                <a:latin typeface="Microsoft YaHei"/>
              </a:rPr>
              <a:t>面向民族地区人才培养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3225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B38"/>
                </a:solidFill>
                <a:latin typeface="Microsoft YaHei"/>
              </a:rPr>
              <a:t>不是只补文献，而是在补课程支撑。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600200"/>
            <a:ext cx="2651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764792"/>
            <a:ext cx="23225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4266"/>
                </a:solidFill>
                <a:latin typeface="Microsoft YaHei"/>
              </a:rPr>
              <a:t>面向民族学科研究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2194560"/>
            <a:ext cx="23225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B38"/>
                </a:solidFill>
                <a:latin typeface="Microsoft YaHei"/>
              </a:rPr>
              <a:t>资源配置会直接影响研究能不能做深。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1600200"/>
            <a:ext cx="2651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8544" y="1764792"/>
            <a:ext cx="23225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4266"/>
                </a:solidFill>
                <a:latin typeface="Microsoft YaHei"/>
              </a:rPr>
              <a:t>面向文化传承与保护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544" y="2194560"/>
            <a:ext cx="23225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B38"/>
                </a:solidFill>
                <a:latin typeface="Microsoft YaHei"/>
              </a:rPr>
              <a:t>有些文献的价值，本来就不能只按均价来算。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6024" y="1600200"/>
            <a:ext cx="2651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0616" y="1764792"/>
            <a:ext cx="23225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4266"/>
                </a:solidFill>
                <a:latin typeface="Microsoft YaHei"/>
              </a:rPr>
              <a:t>面向共同体意识教育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616" y="2194560"/>
            <a:ext cx="23225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B38"/>
                </a:solidFill>
                <a:latin typeface="Microsoft YaHei"/>
              </a:rPr>
              <a:t>专题资源已经在进入新的教学与研究场景。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31920"/>
            <a:ext cx="10241280" cy="1051560"/>
          </a:xfrm>
          <a:prstGeom prst="roundRect">
            <a:avLst/>
          </a:prstGeom>
          <a:solidFill>
            <a:srgbClr val="D8E4EB"/>
          </a:solidFill>
          <a:ln>
            <a:solidFill>
              <a:srgbClr val="D8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261104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94639"/>
                </a:solidFill>
                <a:latin typeface="Microsoft YaHei"/>
              </a:rPr>
              <a:t>如果把这部分资源只算成“特色补充”，其实低估了它们的战略分量。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212080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B38"/>
                </a:solidFill>
                <a:latin typeface="Microsoft YaHei"/>
              </a:defRPr>
            </a:pPr>
            <a:r>
              <a:t>我会把它们理解成：学校办学定位在馆藏层面的可见证据。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4CE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数据来源：五年馆藏.xlsx / analysis_tables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7A85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94639"/>
                </a:solidFill>
                <a:latin typeface="Microsoft YaHei"/>
              </a:rPr>
              <a:t>现实难题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B38"/>
                </a:solidFill>
                <a:latin typeface="Microsoft YaHei"/>
              </a:rPr>
              <a:t>难点不是看不见，而是必须先做选择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5448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664208"/>
            <a:ext cx="4983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94639"/>
                </a:solidFill>
                <a:latin typeface="Microsoft YaHei"/>
              </a:rPr>
              <a:t>要不要单列预算？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11680"/>
            <a:ext cx="4983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B38"/>
                </a:solidFill>
                <a:latin typeface="Microsoft YaHei"/>
              </a:rPr>
              <a:t>下一轮预算，是继续加码通用板块，还是把民族地区文献与特色馆藏单独拿出来保？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64208"/>
            <a:ext cx="4983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94639"/>
                </a:solidFill>
                <a:latin typeface="Microsoft YaHei"/>
              </a:rPr>
              <a:t>要不要单列评价？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4983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B38"/>
                </a:solidFill>
                <a:latin typeface="Microsoft YaHei"/>
              </a:rPr>
              <a:t>民族地区相关资源，继续放在全馆平均数里，还是建立独立的年度评价口径？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38328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493008"/>
            <a:ext cx="4983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94639"/>
                </a:solidFill>
                <a:latin typeface="Microsoft YaHei"/>
              </a:rPr>
              <a:t>三处馆藏怎么分工？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840480"/>
            <a:ext cx="4983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B38"/>
                </a:solidFill>
                <a:latin typeface="Microsoft YaHei"/>
              </a:rPr>
              <a:t>L203、L201、L102 分别更适合承担借阅、研究还是收藏任务？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93008"/>
            <a:ext cx="4983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94639"/>
                </a:solidFill>
                <a:latin typeface="Microsoft YaHei"/>
              </a:rPr>
              <a:t>规则要不要分开？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840480"/>
            <a:ext cx="4983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B38"/>
                </a:solidFill>
                <a:latin typeface="Microsoft YaHei"/>
              </a:rPr>
              <a:t>高价专题文献与课程复本，究竟该不该使用同一套论证和绩效标准？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303520"/>
            <a:ext cx="10680192" cy="548640"/>
          </a:xfrm>
          <a:prstGeom prst="roundRect">
            <a:avLst/>
          </a:prstGeom>
          <a:solidFill>
            <a:srgbClr val="1A4266"/>
          </a:solidFill>
          <a:ln>
            <a:solidFill>
              <a:srgbClr val="1A4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教学型案例的价值，往往就藏在这些没有标准答案、但必须当场表态的问题里。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4CE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数据来源：五年馆藏.xlsx / analysis_tables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7A85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94639"/>
                </a:solidFill>
                <a:latin typeface="Microsoft YaHei"/>
              </a:rPr>
              <a:t>我的判断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B38"/>
                </a:solidFill>
                <a:latin typeface="Microsoft YaHei"/>
              </a:rPr>
              <a:t>先把口径分开，再把特色做实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645920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" y="1755648"/>
            <a:ext cx="347472" cy="347472"/>
          </a:xfrm>
          <a:prstGeom prst="roundRect">
            <a:avLst/>
          </a:prstGeom>
          <a:solidFill>
            <a:srgbClr val="1A4266"/>
          </a:solidFill>
          <a:ln>
            <a:solidFill>
              <a:srgbClr val="1A4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4650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37360"/>
            <a:ext cx="430682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B38"/>
                </a:solidFill>
                <a:latin typeface="Microsoft YaHei"/>
              </a:rPr>
              <a:t>先分口径：常规新增、特色馆藏、工具书、捐赠资源分开统计。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1928" y="1755648"/>
            <a:ext cx="347472" cy="347472"/>
          </a:xfrm>
          <a:prstGeom prst="roundRect">
            <a:avLst/>
          </a:prstGeom>
          <a:solidFill>
            <a:srgbClr val="1A4266"/>
          </a:solidFill>
          <a:ln>
            <a:solidFill>
              <a:srgbClr val="1A4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174650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1737360"/>
            <a:ext cx="430682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B38"/>
                </a:solidFill>
                <a:latin typeface="Microsoft YaHei"/>
              </a:rPr>
              <a:t>再单列：民族地区相关资源做年度看板，不再淹没在平均数里。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926080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" y="3035808"/>
            <a:ext cx="347472" cy="347472"/>
          </a:xfrm>
          <a:prstGeom prst="roundRect">
            <a:avLst/>
          </a:prstGeom>
          <a:solidFill>
            <a:srgbClr val="1A4266"/>
          </a:solidFill>
          <a:ln>
            <a:solidFill>
              <a:srgbClr val="1A4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02666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017520"/>
            <a:ext cx="430682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B38"/>
                </a:solidFill>
                <a:latin typeface="Microsoft YaHei"/>
              </a:rPr>
              <a:t>再校准：把 B/C/D/T/F/G 的变化放回课程和学科任务里解释。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926080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81928" y="3035808"/>
            <a:ext cx="347472" cy="347472"/>
          </a:xfrm>
          <a:prstGeom prst="roundRect">
            <a:avLst/>
          </a:prstGeom>
          <a:solidFill>
            <a:srgbClr val="1A4266"/>
          </a:solidFill>
          <a:ln>
            <a:solidFill>
              <a:srgbClr val="1A4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302666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3017520"/>
            <a:ext cx="430682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B38"/>
                </a:solidFill>
                <a:latin typeface="Microsoft YaHei"/>
              </a:rPr>
              <a:t>再分治：高复本课程书与高价专题资料分别论证。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4206240"/>
            <a:ext cx="4983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315968"/>
            <a:ext cx="347472" cy="347472"/>
          </a:xfrm>
          <a:prstGeom prst="roundRect">
            <a:avLst/>
          </a:prstGeom>
          <a:solidFill>
            <a:srgbClr val="1A4266"/>
          </a:solidFill>
          <a:ln>
            <a:solidFill>
              <a:srgbClr val="1A4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430682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297680"/>
            <a:ext cx="430682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B38"/>
                </a:solidFill>
                <a:latin typeface="Microsoft YaHei"/>
              </a:rPr>
              <a:t>最后用起来：让特色馆藏真正接到课程、导读、展示和数字化服务上。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4CE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数据来源：五年馆藏.xlsx / analysis_tables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7A85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94639"/>
                </a:solidFill>
                <a:latin typeface="Microsoft YaHei"/>
              </a:rPr>
              <a:t>课堂讨论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B38"/>
                </a:solidFill>
                <a:latin typeface="Microsoft YaHei"/>
              </a:rPr>
              <a:t>如果你是资源建设部负责人，你会怎么选？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698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875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2B38"/>
                </a:solidFill>
                <a:latin typeface="Microsoft YaHei"/>
              </a:rPr>
              <a:t>1. 在预算只小幅增长时，你会优先保哪一类资源？为什么？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E2B38"/>
                </a:solidFill>
                <a:latin typeface="Microsoft YaHei"/>
              </a:rPr>
              <a:t>2. 民族地区文献该不该单列预算与评价口径？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E2B38"/>
                </a:solidFill>
                <a:latin typeface="Microsoft YaHei"/>
              </a:rPr>
              <a:t>3. 你会怎样向馆长解释：为什么这 4.98% 不能只按平均数来看？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754880"/>
            <a:ext cx="8503920" cy="731520"/>
          </a:xfrm>
          <a:prstGeom prst="roundRect">
            <a:avLst/>
          </a:prstGeom>
          <a:solidFill>
            <a:srgbClr val="D8E4EB"/>
          </a:solidFill>
          <a:ln>
            <a:solidFill>
              <a:srgbClr val="D8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5001768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94639"/>
                </a:solidFill>
                <a:latin typeface="Microsoft YaHei"/>
              </a:rPr>
              <a:t>我更愿意把这份案例留在“选择题”上，而不是急着把它做成“标准答案”。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4CE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7A85"/>
                </a:solidFill>
                <a:latin typeface="Microsoft YaHei"/>
              </a:rPr>
              <a:t>用途：课堂讨论 / 案例汇报 / 初步方案讨论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7A85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