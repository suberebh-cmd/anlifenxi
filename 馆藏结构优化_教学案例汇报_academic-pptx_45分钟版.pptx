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新增册数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33260</c:v>
                </c:pt>
                <c:pt idx="1">
                  <c:v>25630</c:v>
                </c:pt>
                <c:pt idx="2">
                  <c:v>27518</c:v>
                </c:pt>
                <c:pt idx="3">
                  <c:v>26460</c:v>
                </c:pt>
                <c:pt idx="4">
                  <c:v>29979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平均单价（元）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marker>
            <c:symbol val="diamond"/>
            <c:size val="7"/>
            <c:spPr>
              <a:solidFill>
                <a:srgbClr val="2E75B6"/>
              </a:solidFill>
            </c:spPr>
          </c:marker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77.56</c:v>
                </c:pt>
                <c:pt idx="1">
                  <c:v>98.4</c:v>
                </c:pt>
                <c:pt idx="2">
                  <c:v>83.87</c:v>
                </c:pt>
                <c:pt idx="3">
                  <c:v>83.58</c:v>
                </c:pt>
                <c:pt idx="4">
                  <c:v>99.04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1年内出版占比%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marker>
            <c:symbol val="diamond"/>
            <c:size val="6"/>
            <c:spPr>
              <a:solidFill>
                <a:srgbClr val="2E75B6"/>
              </a:solidFill>
            </c:spPr>
          </c:marker>
          <c:dLbls>
            <c:txPr>
              <a:bodyPr/>
              <a:lstStyle/>
              <a:p>
                <a:pPr>
                  <a:defRPr sz="8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78.85</c:v>
                </c:pt>
                <c:pt idx="1">
                  <c:v>56.26</c:v>
                </c:pt>
                <c:pt idx="2">
                  <c:v>44.66</c:v>
                </c:pt>
                <c:pt idx="3">
                  <c:v>48.22</c:v>
                </c:pt>
                <c:pt idx="4">
                  <c:v>59.55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3年以上占比%</c:v>
                </c:pt>
              </c:strCache>
            </c:strRef>
          </c:tx>
          <c:spPr>
            <a:ln>
              <a:solidFill>
                <a:srgbClr val="8C8C8C"/>
              </a:solidFill>
            </a:ln>
          </c:spPr>
          <c:marker>
            <c:symbol val="diamond"/>
            <c:size val="6"/>
            <c:spPr>
              <a:solidFill>
                <a:srgbClr val="8C8C8C"/>
              </a:solidFill>
            </c:spPr>
          </c:marker>
          <c:dLbls>
            <c:txPr>
              <a:bodyPr/>
              <a:lstStyle/>
              <a:p>
                <a:pPr>
                  <a:defRPr sz="8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6.09</c:v>
                </c:pt>
                <c:pt idx="1">
                  <c:v>13.63</c:v>
                </c:pt>
                <c:pt idx="2">
                  <c:v>15.39</c:v>
                </c:pt>
                <c:pt idx="3">
                  <c:v>21.35</c:v>
                </c:pt>
                <c:pt idx="4">
                  <c:v>14.8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单册品种占比%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marker>
            <c:symbol val="diamond"/>
            <c:size val="6"/>
            <c:spPr>
              <a:solidFill>
                <a:srgbClr val="2E75B6"/>
              </a:solidFill>
            </c:spPr>
          </c:marker>
          <c:dLbls>
            <c:txPr>
              <a:bodyPr/>
              <a:lstStyle/>
              <a:p>
                <a:pPr>
                  <a:defRPr sz="8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8.01</c:v>
                </c:pt>
                <c:pt idx="1">
                  <c:v>10.22</c:v>
                </c:pt>
                <c:pt idx="2">
                  <c:v>15.38</c:v>
                </c:pt>
                <c:pt idx="3">
                  <c:v>12.98</c:v>
                </c:pt>
                <c:pt idx="4">
                  <c:v>8.51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2册及以上品种占比%</c:v>
                </c:pt>
              </c:strCache>
            </c:strRef>
          </c:tx>
          <c:spPr>
            <a:ln>
              <a:solidFill>
                <a:srgbClr val="1F4E79"/>
              </a:solidFill>
            </a:ln>
          </c:spPr>
          <c:marker>
            <c:symbol val="diamond"/>
            <c:size val="6"/>
            <c:spPr>
              <a:solidFill>
                <a:srgbClr val="1F4E79"/>
              </a:solidFill>
            </c:spPr>
          </c:marker>
          <c:dLbls>
            <c:txPr>
              <a:bodyPr/>
              <a:lstStyle/>
              <a:p>
                <a:pPr>
                  <a:defRPr sz="8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91.99</c:v>
                </c:pt>
                <c:pt idx="1">
                  <c:v>89.78</c:v>
                </c:pt>
                <c:pt idx="2">
                  <c:v>84.62</c:v>
                </c:pt>
                <c:pt idx="3">
                  <c:v>87.02</c:v>
                </c:pt>
                <c:pt idx="4">
                  <c:v>91.49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2021占比%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cat>
            <c:strRef>
              <c:f>Sheet1!$A$2:$A$7</c:f>
              <c:strCache>
                <c:ptCount val="6"/>
                <c:pt idx="0">
                  <c:v>B
哲学、宗教</c:v>
                </c:pt>
                <c:pt idx="1">
                  <c:v>C
社会科学总论</c:v>
                </c:pt>
                <c:pt idx="2">
                  <c:v>D
政治、法律</c:v>
                </c:pt>
                <c:pt idx="3">
                  <c:v>I
文学</c:v>
                </c:pt>
                <c:pt idx="4">
                  <c:v>F
经济</c:v>
                </c:pt>
                <c:pt idx="5">
                  <c:v>T
工业技术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6.49</c:v>
                </c:pt>
                <c:pt idx="1">
                  <c:v>3.46</c:v>
                </c:pt>
                <c:pt idx="2">
                  <c:v>10.3</c:v>
                </c:pt>
                <c:pt idx="3">
                  <c:v>17.98</c:v>
                </c:pt>
                <c:pt idx="4">
                  <c:v>13.57</c:v>
                </c:pt>
                <c:pt idx="5">
                  <c:v>12.3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2025占比%</c:v>
                </c:pt>
              </c:strCache>
            </c:strRef>
          </c:tx>
          <c:spPr>
            <a:solidFill>
              <a:srgbClr val="2E75B6"/>
            </a:solidFill>
            <a:ln>
              <a:solidFill>
                <a:srgbClr val="2E75B6"/>
              </a:solidFill>
            </a:ln>
          </c:spPr>
          <c:cat>
            <c:strRef>
              <c:f>Sheet1!$A$2:$A$7</c:f>
              <c:strCache>
                <c:ptCount val="6"/>
                <c:pt idx="0">
                  <c:v>B
哲学、宗教</c:v>
                </c:pt>
                <c:pt idx="1">
                  <c:v>C
社会科学总论</c:v>
                </c:pt>
                <c:pt idx="2">
                  <c:v>D
政治、法律</c:v>
                </c:pt>
                <c:pt idx="3">
                  <c:v>I
文学</c:v>
                </c:pt>
                <c:pt idx="4">
                  <c:v>F
经济</c:v>
                </c:pt>
                <c:pt idx="5">
                  <c:v>T
工业技术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12.94</c:v>
                </c:pt>
                <c:pt idx="1">
                  <c:v>4.82</c:v>
                </c:pt>
                <c:pt idx="2">
                  <c:v>11.71</c:v>
                </c:pt>
                <c:pt idx="3">
                  <c:v>19.4</c:v>
                </c:pt>
                <c:pt idx="4">
                  <c:v>10.56</c:v>
                </c:pt>
                <c:pt idx="5">
                  <c:v>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哲学宗教</c:v>
                </c:pt>
              </c:strCache>
            </c:strRef>
          </c:tx>
          <c:spPr>
            <a:ln>
              <a:solidFill>
                <a:srgbClr val="1F4E79"/>
              </a:solidFill>
            </a:ln>
          </c:spPr>
          <c:marker>
            <c:symbol val="diamond"/>
            <c:size val="6"/>
            <c:spPr>
              <a:solidFill>
                <a:srgbClr val="1F4E79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6.49</c:v>
                </c:pt>
                <c:pt idx="1">
                  <c:v>6.59</c:v>
                </c:pt>
                <c:pt idx="2">
                  <c:v>6.45</c:v>
                </c:pt>
                <c:pt idx="3">
                  <c:v>8.37</c:v>
                </c:pt>
                <c:pt idx="4">
                  <c:v>12.94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社科总论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marker>
            <c:symbol val="diamond"/>
            <c:size val="6"/>
            <c:spPr>
              <a:solidFill>
                <a:srgbClr val="2E75B6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3.46</c:v>
                </c:pt>
                <c:pt idx="1">
                  <c:v>3.84</c:v>
                </c:pt>
                <c:pt idx="2">
                  <c:v>2.96</c:v>
                </c:pt>
                <c:pt idx="3">
                  <c:v>3.67</c:v>
                </c:pt>
                <c:pt idx="4">
                  <c:v>4.82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 政法</c:v>
                </c:pt>
              </c:strCache>
            </c:strRef>
          </c:tx>
          <c:spPr>
            <a:ln>
              <a:solidFill>
                <a:srgbClr val="70AD47"/>
              </a:solidFill>
            </a:ln>
          </c:spPr>
          <c:marker>
            <c:symbol val="diamond"/>
            <c:size val="6"/>
            <c:spPr>
              <a:solidFill>
                <a:srgbClr val="70AD47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10.3</c:v>
                </c:pt>
                <c:pt idx="1">
                  <c:v>7.5</c:v>
                </c:pt>
                <c:pt idx="2">
                  <c:v>10.04</c:v>
                </c:pt>
                <c:pt idx="3">
                  <c:v>9.4</c:v>
                </c:pt>
                <c:pt idx="4">
                  <c:v>11.71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 文学</c:v>
                </c:pt>
              </c:strCache>
            </c:strRef>
          </c:tx>
          <c:spPr>
            <a:ln>
              <a:solidFill>
                <a:srgbClr val="5B9BD5"/>
              </a:solidFill>
            </a:ln>
          </c:spPr>
          <c:marker>
            <c:symbol val="diamond"/>
            <c:size val="6"/>
            <c:spPr>
              <a:solidFill>
                <a:srgbClr val="5B9BD5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17.98</c:v>
                </c:pt>
                <c:pt idx="1">
                  <c:v>20.75</c:v>
                </c:pt>
                <c:pt idx="2">
                  <c:v>22.75</c:v>
                </c:pt>
                <c:pt idx="3">
                  <c:v>21.84</c:v>
                </c:pt>
                <c:pt idx="4">
                  <c:v>19.4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 经济</c:v>
                </c:pt>
              </c:strCache>
            </c:strRef>
          </c:tx>
          <c:spPr>
            <a:ln>
              <a:solidFill>
                <a:srgbClr val="A5A5A5"/>
              </a:solidFill>
            </a:ln>
          </c:spPr>
          <c:marker>
            <c:symbol val="diamond"/>
            <c:size val="6"/>
            <c:spPr>
              <a:solidFill>
                <a:srgbClr val="A5A5A5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13.57</c:v>
                </c:pt>
                <c:pt idx="1">
                  <c:v>12.31</c:v>
                </c:pt>
                <c:pt idx="2">
                  <c:v>11.24</c:v>
                </c:pt>
                <c:pt idx="3">
                  <c:v>12.46</c:v>
                </c:pt>
                <c:pt idx="4">
                  <c:v>10.56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 工业技术</c:v>
                </c:pt>
              </c:strCache>
            </c:strRef>
          </c:tx>
          <c:spPr>
            <a:ln>
              <a:solidFill>
                <a:srgbClr val="C0504D"/>
              </a:solidFill>
            </a:ln>
          </c:spPr>
          <c:marker>
            <c:symbol val="diamond"/>
            <c:size val="6"/>
            <c:spPr>
              <a:solidFill>
                <a:srgbClr val="C0504D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12.3</c:v>
                </c:pt>
                <c:pt idx="1">
                  <c:v>9.77</c:v>
                </c:pt>
                <c:pt idx="2">
                  <c:v>9.09</c:v>
                </c:pt>
                <c:pt idx="3">
                  <c:v>11.7</c:v>
                </c:pt>
                <c:pt idx="4">
                  <c:v>7.2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 自动化/计算机</c:v>
                </c:pt>
              </c:strCache>
            </c:strRef>
          </c:tx>
          <c:spPr>
            <a:ln>
              <a:solidFill>
                <a:srgbClr val="1F4E79"/>
              </a:solidFill>
            </a:ln>
          </c:spPr>
          <c:marker>
            <c:symbol val="diamond"/>
            <c:size val="6"/>
            <c:spPr>
              <a:solidFill>
                <a:srgbClr val="1F4E79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2103</c:v>
                </c:pt>
                <c:pt idx="1">
                  <c:v>1233</c:v>
                </c:pt>
                <c:pt idx="2">
                  <c:v>1193</c:v>
                </c:pt>
                <c:pt idx="3">
                  <c:v>1765</c:v>
                </c:pt>
                <c:pt idx="4">
                  <c:v>1115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TN 无线电电子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marker>
            <c:symbol val="diamond"/>
            <c:size val="6"/>
            <c:spPr>
              <a:solidFill>
                <a:srgbClr val="2E75B6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587</c:v>
                </c:pt>
                <c:pt idx="1">
                  <c:v>305</c:v>
                </c:pt>
                <c:pt idx="2">
                  <c:v>320</c:v>
                </c:pt>
                <c:pt idx="3">
                  <c:v>258</c:v>
                </c:pt>
                <c:pt idx="4">
                  <c:v>212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 轻工业</c:v>
                </c:pt>
              </c:strCache>
            </c:strRef>
          </c:tx>
          <c:spPr>
            <a:ln>
              <a:solidFill>
                <a:srgbClr val="70AD47"/>
              </a:solidFill>
            </a:ln>
          </c:spPr>
          <c:marker>
            <c:symbol val="diamond"/>
            <c:size val="6"/>
            <c:spPr>
              <a:solidFill>
                <a:srgbClr val="70AD47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407</c:v>
                </c:pt>
                <c:pt idx="1">
                  <c:v>229</c:v>
                </c:pt>
                <c:pt idx="2">
                  <c:v>208</c:v>
                </c:pt>
                <c:pt idx="3">
                  <c:v>269</c:v>
                </c:pt>
                <c:pt idx="4">
                  <c:v>191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TU 建筑科学</c:v>
                </c:pt>
              </c:strCache>
            </c:strRef>
          </c:tx>
          <c:spPr>
            <a:ln>
              <a:solidFill>
                <a:srgbClr val="5B9BD5"/>
              </a:solidFill>
            </a:ln>
          </c:spPr>
          <c:marker>
            <c:symbol val="diamond"/>
            <c:size val="6"/>
            <c:spPr>
              <a:solidFill>
                <a:srgbClr val="5B9BD5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321</c:v>
                </c:pt>
                <c:pt idx="1">
                  <c:v>258</c:v>
                </c:pt>
                <c:pt idx="2">
                  <c:v>244</c:v>
                </c:pt>
                <c:pt idx="3">
                  <c:v>327</c:v>
                </c:pt>
                <c:pt idx="4">
                  <c:v>292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年度新增册数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1919</c:v>
                </c:pt>
                <c:pt idx="1">
                  <c:v>1504</c:v>
                </c:pt>
                <c:pt idx="2">
                  <c:v>2247</c:v>
                </c:pt>
                <c:pt idx="3">
                  <c:v>487</c:v>
                </c:pt>
                <c:pt idx="4">
                  <c:v>951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年度新增册数</c:v>
                </c:pt>
              </c:strCache>
            </c:strRef>
          </c:tx>
          <c:spPr>
            <a:solidFill>
              <a:srgbClr val="2E75B6"/>
            </a:solidFill>
            <a:ln>
              <a:solidFill>
                <a:srgbClr val="2E75B6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1919</c:v>
                </c:pt>
                <c:pt idx="1">
                  <c:v>1504</c:v>
                </c:pt>
                <c:pt idx="2">
                  <c:v>2247</c:v>
                </c:pt>
                <c:pt idx="3">
                  <c:v>487</c:v>
                </c:pt>
                <c:pt idx="4">
                  <c:v>951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记录数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1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2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3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4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民族文献借阅（L203）</c:v>
                </c:pt>
                <c:pt idx="1">
                  <c:v>民族文献阅览（L201）</c:v>
                </c:pt>
                <c:pt idx="2">
                  <c:v>捐赠书阅览室L109</c:v>
                </c:pt>
                <c:pt idx="3">
                  <c:v>多卷工具阅览4（L303）</c:v>
                </c:pt>
                <c:pt idx="4">
                  <c:v>民大文库L102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3888</c:v>
                </c:pt>
                <c:pt idx="1">
                  <c:v>3804</c:v>
                </c:pt>
                <c:pt idx="2">
                  <c:v>5989</c:v>
                </c:pt>
                <c:pt idx="3">
                  <c:v>11933</c:v>
                </c:pt>
                <c:pt idx="4">
                  <c:v>1323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平均单价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Pt>
            <c:idx val="1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Pt>
            <c:idx val="2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3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4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民族文献借阅（L203）</c:v>
                </c:pt>
                <c:pt idx="1">
                  <c:v>民族文献阅览（L201）</c:v>
                </c:pt>
                <c:pt idx="2">
                  <c:v>捐赠书阅览室L109</c:v>
                </c:pt>
                <c:pt idx="3">
                  <c:v>多卷工具阅览4（L303）</c:v>
                </c:pt>
                <c:pt idx="4">
                  <c:v>民大文库L102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78.54</c:v>
                </c:pt>
                <c:pt idx="1">
                  <c:v>221.76</c:v>
                </c:pt>
                <c:pt idx="2">
                  <c:v>37.12</c:v>
                </c:pt>
                <c:pt idx="3">
                  <c:v>22.78</c:v>
                </c:pt>
                <c:pt idx="4">
                  <c:v>262.04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记录数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1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2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3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4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7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8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9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K 历史地理</c:v>
                </c:pt>
                <c:pt idx="1">
                  <c:v>I 文学</c:v>
                </c:pt>
                <c:pt idx="2">
                  <c:v>J 艺术</c:v>
                </c:pt>
                <c:pt idx="3">
                  <c:v>Z 综合性图书</c:v>
                </c:pt>
                <c:pt idx="4">
                  <c:v>G 文化教育</c:v>
                </c:pt>
                <c:pt idx="5">
                  <c:v>F 经济</c:v>
                </c:pt>
                <c:pt idx="6">
                  <c:v>D 政治法律</c:v>
                </c:pt>
                <c:pt idx="7">
                  <c:v>H 语言文字</c:v>
                </c:pt>
                <c:pt idx="8">
                  <c:v>C 社科总论</c:v>
                </c:pt>
                <c:pt idx="9">
                  <c:v>R 医药卫生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2332</c:v>
                </c:pt>
                <c:pt idx="1">
                  <c:v>1065</c:v>
                </c:pt>
                <c:pt idx="2">
                  <c:v>839</c:v>
                </c:pt>
                <c:pt idx="3">
                  <c:v>445</c:v>
                </c:pt>
                <c:pt idx="4">
                  <c:v>428</c:v>
                </c:pt>
                <c:pt idx="5">
                  <c:v>408</c:v>
                </c:pt>
                <c:pt idx="6">
                  <c:v>395</c:v>
                </c:pt>
                <c:pt idx="7">
                  <c:v>322</c:v>
                </c:pt>
                <c:pt idx="8">
                  <c:v>256</c:v>
                </c:pt>
                <c:pt idx="9">
                  <c:v>231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记录数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1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2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3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4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民族文献借阅（L203）</c:v>
                </c:pt>
                <c:pt idx="1">
                  <c:v>民族文献阅览（L201）</c:v>
                </c:pt>
                <c:pt idx="2">
                  <c:v>捐赠书阅览室L109</c:v>
                </c:pt>
                <c:pt idx="3">
                  <c:v>多卷工具阅览4（L303）</c:v>
                </c:pt>
                <c:pt idx="4">
                  <c:v>民大文库L102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3888</c:v>
                </c:pt>
                <c:pt idx="1">
                  <c:v>3804</c:v>
                </c:pt>
                <c:pt idx="2">
                  <c:v>5989</c:v>
                </c:pt>
                <c:pt idx="3">
                  <c:v>11933</c:v>
                </c:pt>
                <c:pt idx="4">
                  <c:v>1323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平均单价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Pt>
            <c:idx val="1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Pt>
            <c:idx val="2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3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dPt>
          <c:dPt>
            <c:idx val="4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dPt>
          <c:dLbls>
            <c:txPr>
              <a:bodyPr/>
              <a:lstStyle/>
              <a:p>
                <a:pPr>
                  <a:defRPr sz="900">
                    <a:solidFill>
                      <a:srgbClr val="6E6E6E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民族文献借阅（L203）</c:v>
                </c:pt>
                <c:pt idx="1">
                  <c:v>民族文献阅览（L201）</c:v>
                </c:pt>
                <c:pt idx="2">
                  <c:v>捐赠书阅览室L109</c:v>
                </c:pt>
                <c:pt idx="3">
                  <c:v>多卷工具阅览4（L303）</c:v>
                </c:pt>
                <c:pt idx="4">
                  <c:v>民大文库L102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78.54</c:v>
                </c:pt>
                <c:pt idx="1">
                  <c:v>221.76</c:v>
                </c:pt>
                <c:pt idx="2">
                  <c:v>37.12</c:v>
                </c:pt>
                <c:pt idx="3">
                  <c:v>22.78</c:v>
                </c:pt>
                <c:pt idx="4">
                  <c:v>262.04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E6E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DBEF"/>
                </a:solidFill>
                <a:latin typeface="Microsoft YaHei"/>
              </a:rPr>
              <a:t>academic-pptx 45分钟汇报版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8046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馆藏结构优化已经从“扩数量”
变成“排优先级”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H大学图书馆馆藏结构优化教学型案例汇报
一般学科资源与民族地区相关资源如何兼顾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051560"/>
            <a:ext cx="2926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417320"/>
            <a:ext cx="2423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这版结构按 45 分钟来做。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我会先解释数据告诉了我们什么。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再把真正的决策难题抬出来。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最后回到教学型案例最重要的部分：不同方案各自会失去什么。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DBEF"/>
                </a:solidFill>
                <a:latin typeface="Microsoft YaHei"/>
              </a:rPr>
              <a:t>汇报人：Codex 协作生成稿  |  场景：案例大赛 / 课程展示 / 馆务讨论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版本：academic-pptx 快速长版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这 45 分钟，我想把问题讲成四个连续动作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972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8191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YaHei"/>
              </a:rPr>
              <a:t>01 看变化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417320"/>
            <a:ext cx="9006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45336"/>
            <a:ext cx="8503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先看总量、价格、时效和复本结构，判断全馆资源配置到底变了什么。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10972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YaHei"/>
              </a:rPr>
              <a:t>02 看迁移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468880"/>
            <a:ext cx="9006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596896"/>
            <a:ext cx="8503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再看学科结构怎么移动，尤其是 B/C/D/I 上升和 T/F 回落意味着什么。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20439"/>
            <a:ext cx="10972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85031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YaHei"/>
              </a:rPr>
              <a:t>03 看特色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3520439"/>
            <a:ext cx="9006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648455"/>
            <a:ext cx="8503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把民族地区相关资源单独拉出来，判断它们为什么不能继续淹没在平均数里。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72000"/>
            <a:ext cx="10972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365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Microsoft YaHei"/>
              </a:rPr>
              <a:t>04 做选择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4572000"/>
            <a:ext cx="9006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700016"/>
            <a:ext cx="8503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最后回到案例核心：有限预算下，到底该用统一口径，还是分层治理。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如果只记住一句话，我希望是：这份案例真正讨论的不是“买多少”，而是“先保什么”。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内容结构依据：academic-pptx / content_guidelines.md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情境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馆藏优化已经从“增量管理”进入“优先级管理”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49047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142,847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185623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五年新增馆藏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16712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2021—2025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41732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149047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99.04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185623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2025 平均单价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16712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元/册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49047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59.55%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85623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2025 一年内出版占比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16712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时效已修复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325880"/>
            <a:ext cx="4663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6916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预算没有无限增长，空间也没有无限扩张。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学校既要支持一般教学科研，也要回应民族地区人才培养、学科建设与文化传承任务。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因此，馆藏优化不再是“尽量多买”，而是“必须排序”。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880360"/>
            <a:ext cx="5440680" cy="1874519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</a:rPr>
              <a:t>这个案例最有教学价值的地方在于：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D2D2D"/>
                </a:solidFill>
                <a:latin typeface="Microsoft YaHei"/>
              </a:rPr>
              <a:t>所有人都知道馆藏要优化，但一旦预算和评价同时受限，优化就会变成一道必须表态的选择题。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数据来源：analysis_tables/01_年度总体统计.csv；案例分析初稿_馆藏结构优化_详析版.docx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本案例真正要问的是：有限预算下谁该先被保障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08760"/>
            <a:ext cx="10058400" cy="1600200"/>
          </a:xfrm>
          <a:prstGeom prst="roundRect">
            <a:avLst/>
          </a:prstGeom>
          <a:solidFill>
            <a:srgbClr val="EB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509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当一般学科资源、课程复本需求、采购时效要求与民族地区相关资源建设同时存在时，
H大学图书馆究竟应该继续使用统一评价口径，还是建立分层治理机制？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611880"/>
            <a:ext cx="9418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这不是抽象的价值讨论，而是预算分配、采购规则、馆藏评价和服务设计的组合决策。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我后面所有图表都只服务这个问题，不追求把所有数据都讲完。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结构要求：academic-pptx / 研究问题须在第2-3页前明确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分析框架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这份汇报只用三组证据来支撑判断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9019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全馆运行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304288"/>
            <a:ext cx="285292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新增册数、价格、时效、复本结构，用来判断馆藏运行状态是否稳定。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4592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19019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结构变化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2304288"/>
            <a:ext cx="285292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一级类占比与 T 类二级拆解，用来判断资源配置方向有没有真正改变。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164592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1" y="19019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特色资源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1" y="2304288"/>
            <a:ext cx="285292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民族地区相关馆藏规模、价格、空间功能与学科分布，用来判断其是否应被单列治理。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9875520" cy="82296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919472"/>
            <a:ext cx="9326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判断标准也会跟着变化：常规新书更看覆盖与时效，特色资源更看使命承接与长期辨识度。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数据来源：analysis_tables/01/03/04/08/09/10；案例分析初稿_民族文献聚焦版.docx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6ED"/>
                </a:solidFill>
                <a:latin typeface="Microsoft YaHe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先看全馆运行面：总量没有停，治理压力却更高了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这部分先回答一个前提问题：图书馆是不是在“失速”？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011680" cy="54864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结构分节页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总体变化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五年新增馆藏有波动，但从未真正停下来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2022 年是低点，但新增量仍有 25,630 册。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2025 年回升到 29,979 册，说明全馆运行并未停摆。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真正变化的不是“有没有买”，而是“往哪里买”。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数据来源：analysis_tables/01_年度总体统计.csv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价格压力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价格整体上行意味着“买错书”的代价变得更高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008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60920" y="141732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88936" y="1490472"/>
            <a:ext cx="1527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68→78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936" y="1856232"/>
            <a:ext cx="1527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中位价变化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936" y="2167128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2021 到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41732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1490472"/>
            <a:ext cx="1527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119→129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616" y="1856232"/>
            <a:ext cx="1527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P90 价格变化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616" y="2167128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高价书抬升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743200"/>
            <a:ext cx="37947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3063240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2022 与 2025 的均价都接近 100 元/册。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价格上涨会放大资源配置错误的后果。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所以后面的结构判断，不能再只看册数。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数据来源：analysis_tables/01_年度总体统计.csv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采购时效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采购响应速度在 2023—2024 年明显变慢，2025 年才开始修复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1 年内出版占比从 2021 年的 78.85% 下滑到 2023 年的 44.66%。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2024 年 3 年以上旧书占比升到 21.35%，响应迟滞最明显。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2025 年有所修复，但还没有回到 2021 年水平。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数据来源：analysis_tables/10_出版时差分布.csv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复本结构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课程与服务型需求仍然很强，全馆并没有转向“只买研究书”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 册及以上品种占比始终在 84% 以上，说明课程复本和普适性服务依旧占主流。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2023 年单册品种占比抬升到 15.38%，像是一次结构试探。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2025 年又回到 8.51%，表明常规教学支持不能被轻易压缩。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数据来源：analysis_tables/08_复本结构_年度统计.csv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阶段判断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到这里我更愿意把问题概括成三句判断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04698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874519"/>
            <a:ext cx="109728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2011679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65959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Microsoft YaHei"/>
              </a:rPr>
              <a:t>总量没有停，所以馆藏并非“失血型”问题。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926079"/>
            <a:ext cx="109728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63239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017519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Microsoft YaHei"/>
              </a:rPr>
              <a:t>价格和时效压力同时存在，所以资源错误配置的成本正在上升。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77639"/>
            <a:ext cx="109728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4114799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判断三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069079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Microsoft YaHei"/>
              </a:rPr>
              <a:t>复本结构没有明显瓦解，因此后面看到的结构迁移，更像优先级重排，而不是普通需求消失。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换句话说，真正值得追问的已经不是“有没有买”，而是“哪些资源开始更重要”。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阶段小结：由 analysis_tables/01/08/10 归纳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6ED"/>
                </a:solidFill>
                <a:latin typeface="Microsoft YaHe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再看结构迁移：资源排序到底朝哪个方向动了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这一段把“结构变了”说具体，而不是停留在直觉上。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011680" cy="54864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结构分节页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结构对比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2021 到 2025 年，资源配置更明显地转向人文社科议题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92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B 类从 6.49% 升到 12.94%，是最明显的上升项。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C、D、I 也都上行，说明并非单一学科波动。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F 与 T 的下降提示：原来较强的经管与技术板块正在让位。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数据来源：analysis_tables/04_中图法一级类_2021_vs_2025.csv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连续趋势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这不是某一年的偶然波动，而是连续五年的排序调整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325880"/>
          <a:ext cx="67208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B 类在 2025 年出现跳升，不像短期偶发采购。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D 与 I 的占比长期维持高位，说明政法与文学持续受重视。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F 与 T 不是某一年突然缩减，而是逐步承压。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数据来源：analysis_tables/03_中图法一级类_年度占比.csv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结构解释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上升的不只是“人文”，更是与学校使命更贴近的议题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029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从数据上看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526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B、C、D、I 都在上升，说明这轮变化更像价值主题和治理议题进入采购前列。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K 类历史地理没有同步大涨，说明并非“凡是人文都增加”。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这会让后面民族地区资源的判断更有解释力。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Microsoft YaHei"/>
              </a:rPr>
              <a:t>从学校任务上看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389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民族地区人才培养、文化传承、共同体意识教育，本身就会把 B/C/D/I 推到更重要的位置。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所以这不是“偏文科”，而是“任务导向更明显”。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如果沿着这条线继续看，特色资源就不能再被视作边角补充。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解释依据：analysis_tables/03/04；案例分析初稿_馆藏结构优化_详析版.docx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T 类拆解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T 类的回落主要发生在 TP 和 TN，而不是所有技术资源一起走弱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25880"/>
          <a:ext cx="6492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TP 从 2103 册降到 1115 册，回落最明显。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TN 也从 587 册降到 212 册，技术硬件相关支持同步承压。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TS、TU 的波动较小，说明并不是所有技术类都在退场。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数据来源：analysis_tables/06_T类二级分类_年度册数.csv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再解释一步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技术资源并没有失去必要性，但它们不再自动拥有优先级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04698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Microsoft YaHei"/>
              </a:defRPr>
            </a:pPr>
            <a:r>
              <a:t>第一，TP 仍然是 T 类主体，说明数字化、计算机类资源仍有刚性需求。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Microsoft YaHei"/>
              </a:defRPr>
            </a:pPr>
            <a:r>
              <a:t>第二，回落更多像是相对优先级下降，而不是绝对需求消失。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Microsoft YaHei"/>
              </a:defRPr>
            </a:pPr>
            <a:r>
              <a:t>第三，问题因此变得更难：我们不能简单说“多买人文、少买技术”，而要解释哪些任务必须被优先保障。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这一步很关键，因为它让案例避免滑向“文科替代工科”这种过于粗糙的叙事。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解释依据：analysis_tables/06_T类二级分类_年度册数.csv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阶段判断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到这里，我会把结构变化概括成一个更具体的结论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241280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Microsoft YaHei"/>
              </a:rPr>
              <a:t>H大学近五年的资源配置，并不是在简单压缩某些学科，而是在把采购优先级从“默认平均分配”转向“更贴近学校任务的板块”。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37560"/>
            <a:ext cx="9509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这为民族地区相关资源的独立讨论提供了前提。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如果全馆都在重排优先级，那么特色资源就更应该被问清楚：它们到底只是补充，还是应该被保障。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阶段小结：由 analysis_tables/03/04/06 归纳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6ED"/>
                </a:solidFill>
                <a:latin typeface="Microsoft YaHe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把民族地区相关资源单独拉出来，它们的意义会更清楚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这部分不再问“有没有”，而是问“为什么不能继续混算”。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011680" cy="54864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结构分节页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规模判断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民族地区相关资源只占 4.98%，却最能代表学校是谁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44475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9015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181051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相关馆藏总记录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12140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专题统计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37160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144475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7108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181051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五年新增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12140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2021—2025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71600"/>
            <a:ext cx="16916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444752"/>
            <a:ext cx="1435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</a:rPr>
              <a:t>4.98%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810512"/>
            <a:ext cx="14356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Microsoft YaHei"/>
              </a:rPr>
              <a:t>占同期新增比重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121408"/>
            <a:ext cx="1435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并不高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77240" y="2743200"/>
          <a:ext cx="63550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规模不大，所以它们最容易在统一平均口径里被忽略。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但它们高度集中承接学校特色任务，战略分量远高于册数占比。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这正是“单列治理”比“继续混算”更有必要的原因。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数据来源：案例分析初稿_民族文献聚焦版.docx；analysis_tables/01_年度总体统计.csv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年度波动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民族地区相关资源在 2024 年明显收缩，说明它们最容易在统一预算里被让位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7160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2023 年达到 2247 册后，2024 年骤降到 487 册。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2025 年回升到 951 册，但仍显著低于 2023 年。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这类大起大落，恰恰说明特色资源最怕被放进统一削减逻辑。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数据来源：案例分析初稿_民族文献聚焦版.docx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空间分工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L203、L201 与 L102 的功能并不相同，不能再用同一把尺子衡量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3291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99339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L203 民族文献借阅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487168"/>
            <a:ext cx="2423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更偏教学支持与可借服务。记录数 3888，均价 78.54 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3291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99339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L201 民族文献阅览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87168"/>
            <a:ext cx="2423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更偏专题研究与现场查阅。记录数 3804，均价 221.76 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1737360"/>
            <a:ext cx="3291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199339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L102 民大文库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1" y="2487168"/>
            <a:ext cx="2423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Microsoft YaHei"/>
              </a:rPr>
              <a:t>更偏收藏与学校辨识度表达。记录数 1323，均价 262.04 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借阅、阅览、收藏承担的是三种不同任务，所以它们不该继续挤在同一张成绩单上。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数据来源：analysis_tables/09_特色馆藏地点统计.csv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空间规模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特色馆藏空间里，民族文献板块不是最大的，但它们的功能最专门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多卷工具阅览与捐赠书空间规模更大，但承担的是另一类基础保障任务。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民族文献借阅、阅览与民大文库数量有限，却承担更清晰的学校特色表达功能。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所以，单看空间规模会系统性低估这部分资源的重要性。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数据来源：analysis_tables/09_特色馆藏地点统计.csv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价格结构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研究型与收藏型民族文献明显更贵，这决定了它们不能照搬常规新书规则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L201 与 L102 的均价都超过 220 元/册，远高于全馆年度均价。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这往往对应专题资料、影印文献和收藏型资源，而不是普通新书。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若仍用统一成本标准评价，它们会天然处于劣势。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数据来源：analysis_tables/09_特色馆藏地点统计.csv；analysis_tables/01_年度总体统计.csv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学科面貌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民族地区相关资源并不是单一 K 类，而是一组跨学科组合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13232" y="1298448"/>
          <a:ext cx="6537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32588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K 类历史地理是核心，但 I、J、C、D、G 都有明显分量。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这意味着民族地区资源建设并不只是“补地方文献”。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它更像一组围绕学校使命组织起来的跨学科资源包。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数据来源：案例分析初稿_民族文献聚焦版.docx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使命承接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这些资源之所以重要，是因为它们承接的是学校的特殊任务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81051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人才培养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6312" y="1792224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Microsoft YaHei"/>
              </a:rPr>
              <a:t>民族地区课程、专题阅读和学生学习支持需要稳定资源供给。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1051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学科研究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1792224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Microsoft YaHei"/>
              </a:rPr>
              <a:t>民族学、历史、文化、治理等方向的研究深度离不开专题资料。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4564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文化传承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3438144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Microsoft YaHei"/>
              </a:rPr>
              <a:t>影印文献、民间文学与地方文化资源具有长期保存价值。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9184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4564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Microsoft YaHei"/>
              </a:rPr>
              <a:t>学校辨识度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438144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Microsoft YaHei"/>
              </a:rPr>
              <a:t>馆藏是办学定位最可见的物质证据之一。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一般资源回答“课堂上要用什么”，特色资源回答“这所学校到底是谁”。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解释依据：案例分析初稿_馆藏结构优化_详析版.docx；案例分析初稿_民族文献聚焦版.docx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6ED"/>
                </a:solidFill>
                <a:latin typeface="Microsoft YaHe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最后回到决策：管理上到底该怎么选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这部分不追求标准答案，而是把各个选项的代价讲清楚。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011680" cy="54864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结构分节页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决策时点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馆藏结构优化真正卡住的，是四个必须同时回答的问题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0020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09928"/>
            <a:ext cx="4709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</a:rPr>
              <a:t>预算要不要单列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民族地区相关资源是否需要独立保障额度。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09928"/>
            <a:ext cx="4709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</a:rPr>
              <a:t>评价要不要单列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是否继续与常规新书一起计算平均数、时效与绩效。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709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</a:rPr>
              <a:t>空间要不要分工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借阅、阅览、收藏三类空间是否要承担不同目标。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9184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01568"/>
            <a:ext cx="4709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</a:rPr>
              <a:t>服务要不要转化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40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Microsoft YaHei"/>
              </a:rPr>
              <a:t>专题资源是否要和课程、导读、展陈、数字化联动。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教学型案例的张力，就在于每个问题都没有零成本答案。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决策议题归纳：案例分析初稿_馆藏结构优化_详析版.docx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方案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继续使用统一口径，管理会更省事，但学校辨识度会继续被稀释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统计规则简单，部门协同成本低。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预算审批与绩效考核都更容易解释。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不会打破既有采购流程。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Microsoft YaHei"/>
              </a:rPr>
              <a:t>代价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特色资源会继续显得“贵、慢、少”。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一遇到预算收紧，它们会最先被让位。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学校特色难以稳定沉淀成馆藏优势。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方案分析：基于本案数据与教学讨论归纳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方案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把民族地区相关资源单列出来，会增加治理成本，却能换来更清晰的办学表达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icrosoft YaHei"/>
              </a:rPr>
              <a:t>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能用更适合特色资源的标准来评价其价值。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预算波动时更容易守住学校辨识度资源。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能倒逼空间分工和服务转化真正发生。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029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Microsoft YaHei"/>
              </a:rPr>
              <a:t>代价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统计、论证和审批流程都会更复杂。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需要更细的分类口径与责任分工。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如果只单列不转服务，仍可能停留在“被看见但没被用好”。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方案分析：基于本案数据与教学讨论归纳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我的倾向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我更倾向于“分层治理”，而不是继续追求一个总分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241280" cy="109728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Microsoft YaHei"/>
              </a:rPr>
              <a:t>常规新书看覆盖、时效与复本；特色资源看使命承接、长期积累与服务转化。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这不是给特色资源“特殊照顾”，而是承认不同资源承担的任务本来就不同。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只要继续用统一口径，民族地区相关资源就会不断被误判为“低效率”。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分层治理的前提不是多花钱，而是先把规则讲对。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建议方案：基于本案数据与教学判断提出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实施路径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如果要落地，我会先做五个动作，而不是一次性推翻现有体系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8408" y="1755648"/>
            <a:ext cx="347472" cy="34747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746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737360"/>
            <a:ext cx="43068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icrosoft YaHei"/>
              </a:rPr>
              <a:t>先分口径：常规新增、特色馆藏、工具书、捐赠资源分开统计。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7648" y="1755648"/>
            <a:ext cx="347472" cy="34747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746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737360"/>
            <a:ext cx="43068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icrosoft YaHei"/>
              </a:rPr>
              <a:t>再定清单：把民族地区相关资源的范围和馆藏地责任界定清楚。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8036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" y="2990088"/>
            <a:ext cx="347472" cy="34747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9809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2971800"/>
            <a:ext cx="43068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icrosoft YaHei"/>
              </a:rPr>
              <a:t>再设指标：特色资源单列覆盖度、连续性、使用转化与展示转化指标。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2990088"/>
            <a:ext cx="347472" cy="34747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9809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971800"/>
            <a:ext cx="43068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icrosoft YaHei"/>
              </a:rPr>
              <a:t>再做联动：让课程、导读、展陈、数字化一起承接这些资源。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411480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4224528"/>
            <a:ext cx="347472" cy="347472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21538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06240"/>
            <a:ext cx="43068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icrosoft YaHei"/>
              </a:rPr>
              <a:t>最后复盘：每年不只看买了多少，更看学校特色有没有被真正看见和用起来。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实施建议：基于本案教学型分析提出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课堂讨论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如果你是资源建设部负责人，你会怎样向馆长解释这 4.98%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03784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01952"/>
            <a:ext cx="978408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2D2D"/>
                </a:solidFill>
                <a:latin typeface="Microsoft YaHei"/>
              </a:rPr>
              <a:t>1. 在预算只小幅增长时，你会优先守住常规时效，还是优先守住民族地区相关资源的连续建设？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D2D2D"/>
                </a:solidFill>
                <a:latin typeface="Microsoft YaHei"/>
              </a:rPr>
              <a:t>2. 特色资源单列后，最合适的绩效指标应该是什么，哪些指标反而不该继续沿用？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D2D2D"/>
                </a:solidFill>
                <a:latin typeface="Microsoft YaHei"/>
              </a:rPr>
              <a:t>3. 如果领导只看“平均单价”和“流通量”，你会怎么解释高价专题资源的合理性？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10469880" cy="56692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559552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Microsoft YaHei"/>
              </a:rPr>
              <a:t>我会把这份案例停在选择题上，因为教学型案例的价值本来就不在“唯一答案”。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用途：课堂讨论 / 案例大赛展示 / 馆务研讨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我的结论是：H大学真正要优化的，不是总量，而是优先级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0378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829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五年馆藏总体仍在运行，但价格与时效压力让“买对什么”比“买多少”更重要。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资源结构已从平均分配转向任务导向，B/C/D/I 上升、F/T 承压就是这个信号。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民族地区相关资源规模不大，却承担学校辨识度和特殊任务，因此不宜继续与常规新书混算。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Microsoft YaHei"/>
              </a:defRPr>
            </a:pPr>
            <a:r>
              <a:t>我更支持“分层治理 + 服务转化”的方案，让特色资源既被看见，也被真正用起来。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89204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Microsoft YaHei"/>
              </a:rPr>
              <a:t>Q&amp;A 停留页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87375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E6E6E"/>
                </a:solidFill>
                <a:latin typeface="Microsoft YaHei"/>
              </a:rPr>
              <a:t>contact: academic-pptx working draft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问答停留页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参考来源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本次汇报使用的数据与文本来源如下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1. analysis_tables/01_年度总体统计.csv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2. analysis_tables/03_中图法一级类_年度占比.csv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3. analysis_tables/04_中图法一级类_2021_vs_2025.csv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4. analysis_tables/06_T类二级分类_年度册数.csv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5. analysis_tables/08_复本结构_年度统计.csv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6. analysis_tables/09_特色馆藏地点统计.csv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7. analysis_tables/10_出版时差分布.csv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8. 案例分析初稿_馆藏结构优化_详析版.docx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9. 案例分析初稿_民族文献聚焦版.docx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Microsoft YaHei"/>
              </a:defRPr>
            </a:pPr>
            <a:r>
              <a:t>10. academic-pptx skill: SKILL.md / content_guidelines.md / slide_patterns.md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6ED"/>
                </a:solidFill>
                <a:latin typeface="Microsoft YaHe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附录页保留给追问数据与补充图表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8F5"/>
                </a:solidFill>
                <a:latin typeface="Microsoft YaHei"/>
              </a:rPr>
              <a:t>正式汇报可按现场时间决定是否展开。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011680" cy="54864"/>
          </a:xfrm>
          <a:prstGeom prst="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结构分节页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附录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全馆年度运行数据把“规模、价格、时效”同时放在一起看更清楚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00200"/>
            <a:ext cx="73152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年份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00200"/>
            <a:ext cx="123444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755648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新增册数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96012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55648"/>
            <a:ext cx="868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均价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91440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中位价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600200"/>
            <a:ext cx="91440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5564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P90价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600200"/>
            <a:ext cx="1280160" cy="457200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755648"/>
            <a:ext cx="11887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1年内占比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148840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267712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2148840"/>
            <a:ext cx="1234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56816" y="2267712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33260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148840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2267712"/>
            <a:ext cx="8869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77.56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148840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2267712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68.0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148840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6" y="2267712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119.0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148840"/>
            <a:ext cx="12801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2267712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78.85%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770632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2889504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2022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2770632"/>
            <a:ext cx="1234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56816" y="2889504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25630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2770632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889504"/>
            <a:ext cx="8869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98.40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2770632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2889504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68.0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2770632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34456" y="2889504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138.0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2770632"/>
            <a:ext cx="12801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23176" y="2889504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56.26%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3392424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3511296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2023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40" y="3392424"/>
            <a:ext cx="1234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56816" y="3511296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27518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3392424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3511296"/>
            <a:ext cx="8869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83.87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3392424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45736" y="3511296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69.0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3392424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34456" y="3511296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128.0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86600" y="3392424"/>
            <a:ext cx="12801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3176" y="3511296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44.66%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4014216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" y="4133088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2024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20240" y="4014216"/>
            <a:ext cx="1234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56816" y="413308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26460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29000" y="4014216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5576" y="4133088"/>
            <a:ext cx="8869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83.58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09160" y="4014216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45736" y="4133088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69.5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97880" y="4014216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34456" y="4133088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128.0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86600" y="4014216"/>
            <a:ext cx="12801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23176" y="4133088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48.22%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680" y="4636008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" y="4754880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2025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20240" y="4636008"/>
            <a:ext cx="1234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56816" y="4754880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29979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4636008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65576" y="4754880"/>
            <a:ext cx="8869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99.04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09160" y="4636008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45736" y="475488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78.0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97880" y="4636008"/>
            <a:ext cx="914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34456" y="475488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129.0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86600" y="4636008"/>
            <a:ext cx="12801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23176" y="4754880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Microsoft YaHei"/>
              </a:rPr>
              <a:t>59.55%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数据来源：analysis_tables/01_年度总体统计.csv；analysis_tables/10_出版时差分布.csv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Microsoft YaHei"/>
              </a:rPr>
              <a:t>附录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Microsoft YaHei"/>
              </a:rPr>
              <a:t>特色馆藏空间的原始记录数与均价放在一起看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32588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63640" y="1325880"/>
          <a:ext cx="539496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Microsoft YaHei"/>
              </a:rPr>
              <a:t>数据来源：analysis_tables/09_特色馆藏地点统计.csv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